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4" r:id="rId6"/>
    <p:sldId id="260" r:id="rId7"/>
    <p:sldId id="265" r:id="rId8"/>
    <p:sldId id="261" r:id="rId9"/>
    <p:sldId id="262" r:id="rId10"/>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p:cViewPr varScale="1">
        <p:scale>
          <a:sx n="115" d="100"/>
          <a:sy n="115" d="100"/>
        </p:scale>
        <p:origin x="26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a:spLocks noGrp="1"/>
          </p:cNvSpPr>
          <p:nvPr>
            <p:ph type="title"/>
          </p:nvPr>
        </p:nvSpPr>
        <p:spPr>
          <a:prstGeom prst="rect">
            <a:avLst/>
          </a:prstGeom>
        </p:spPr>
        <p:txBody>
          <a:bodyPr/>
          <a:lstStyle/>
          <a:p>
            <a:r>
              <a:t>Title Text</a:t>
            </a:r>
          </a:p>
        </p:txBody>
      </p:sp>
      <p:sp>
        <p:nvSpPr>
          <p:cNvPr id="29"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a:spLocks noGrp="1"/>
          </p:cNvSpPr>
          <p:nvPr>
            <p:ph type="title"/>
          </p:nvPr>
        </p:nvSpPr>
        <p:spPr>
          <a:prstGeom prst="rect">
            <a:avLst/>
          </a:prstGeom>
        </p:spPr>
        <p:txBody>
          <a:bodyPr/>
          <a:lstStyle/>
          <a:p>
            <a:r>
              <a:t>Title Text</a:t>
            </a:r>
          </a:p>
        </p:txBody>
      </p:sp>
      <p:sp>
        <p:nvSpPr>
          <p:cNvPr id="38" name="Body Level One…"/>
          <p:cNvSpPr>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Shape 23"/>
          <p:cNvSpPr>
            <a:spLocks noGrp="1"/>
          </p:cNvSpPr>
          <p:nvPr>
            <p:ph type="body" sz="half" idx="13"/>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a:spLocks noGrp="1"/>
          </p:cNvSpPr>
          <p:nvPr>
            <p:ph type="title"/>
          </p:nvPr>
        </p:nvSpPr>
        <p:spPr>
          <a:prstGeom prst="rect">
            <a:avLst/>
          </a:prstGeom>
        </p:spPr>
        <p:txBody>
          <a:bodyPr/>
          <a:lstStyle/>
          <a:p>
            <a:r>
              <a:t>Title Text</a:t>
            </a:r>
          </a:p>
        </p:txBody>
      </p:sp>
      <p:sp>
        <p:nvSpPr>
          <p:cNvPr id="48"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Shape 36"/>
          <p:cNvSpPr/>
          <p:nvPr/>
        </p:nvSpPr>
        <p:spPr>
          <a:xfrm>
            <a:off x="4572000" y="-125"/>
            <a:ext cx="4572000" cy="5143501"/>
          </a:xfrm>
          <a:prstGeom prst="rect">
            <a:avLst/>
          </a:prstGeom>
          <a:solidFill>
            <a:srgbClr val="EEEEEE"/>
          </a:solidFill>
          <a:ln w="12700">
            <a:miter lim="400000"/>
          </a:ln>
        </p:spPr>
        <p:txBody>
          <a:bodyPr lIns="45719" rIns="45719" anchor="ctr"/>
          <a:lstStyle/>
          <a:p>
            <a:endParaRPr/>
          </a:p>
        </p:txBody>
      </p:sp>
      <p:sp>
        <p:nvSpPr>
          <p:cNvPr id="73" name="Title Text"/>
          <p:cNvSpPr>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Shape 39"/>
          <p:cNvSpPr>
            <a:spLocks noGrp="1"/>
          </p:cNvSpPr>
          <p:nvPr>
            <p:ph type="body" sz="half" idx="13"/>
          </p:nvPr>
        </p:nvSpPr>
        <p:spPr>
          <a:xfrm>
            <a:off x="4939500" y="724074"/>
            <a:ext cx="3837000" cy="3695102"/>
          </a:xfrm>
          <a:prstGeom prst="rect">
            <a:avLst/>
          </a:prstGeom>
        </p:spPr>
        <p:txBody>
          <a:bodyPr anchor="ctr"/>
          <a:lstStyle/>
          <a:p>
            <a:endParaRPr/>
          </a:p>
        </p:txBody>
      </p:sp>
      <p:sp>
        <p:nvSpPr>
          <p:cNvPr id="76"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Title Text"/>
          <p:cNvSpPr>
            <a:spLocks noGrp="1"/>
          </p:cNvSpPr>
          <p:nvPr>
            <p:ph type="title"/>
          </p:nvPr>
        </p:nvSpPr>
        <p:spPr>
          <a:xfrm>
            <a:off x="311699" y="1106125"/>
            <a:ext cx="8520602" cy="1963500"/>
          </a:xfrm>
          <a:prstGeom prst="rect">
            <a:avLst/>
          </a:prstGeom>
        </p:spPr>
        <p:txBody>
          <a:bodyPr anchor="b"/>
          <a:lstStyle>
            <a:lvl1pPr algn="ctr">
              <a:defRPr sz="12000"/>
            </a:lvl1pPr>
          </a:lstStyle>
          <a:p>
            <a:r>
              <a:t>Title Text</a:t>
            </a:r>
          </a:p>
        </p:txBody>
      </p:sp>
      <p:sp>
        <p:nvSpPr>
          <p:cNvPr id="92" name="Body Level One…"/>
          <p:cNvSpPr>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311699" y="445025"/>
            <a:ext cx="8520602" cy="57270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Title Text</a:t>
            </a:r>
          </a:p>
        </p:txBody>
      </p:sp>
      <p:sp>
        <p:nvSpPr>
          <p:cNvPr id="3" name="Body Level One…"/>
          <p:cNvSpPr>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54"/>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10" name="Shape 55"/>
          <p:cNvSpPr/>
          <p:nvPr/>
        </p:nvSpPr>
        <p:spPr>
          <a:xfrm>
            <a:off x="537899" y="1895175"/>
            <a:ext cx="3953102" cy="13766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t>Sprocket Central Pty Ltd</a:t>
            </a:r>
          </a:p>
        </p:txBody>
      </p:sp>
      <p:sp>
        <p:nvSpPr>
          <p:cNvPr id="111" name="Shape 56"/>
          <p:cNvSpPr/>
          <p:nvPr/>
        </p:nvSpPr>
        <p:spPr>
          <a:xfrm>
            <a:off x="537900" y="3315475"/>
            <a:ext cx="5550600" cy="5257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a:solidFill>
                  <a:srgbClr val="FFFFFF"/>
                </a:solidFill>
                <a:latin typeface="Open Sans Light"/>
                <a:ea typeface="Open Sans Light"/>
                <a:cs typeface="Open Sans Light"/>
                <a:sym typeface="Open Sans Light"/>
              </a:defRPr>
            </a:lvl1pPr>
          </a:lstStyle>
          <a:p>
            <a:r>
              <a:t>Data analytics approach</a:t>
            </a:r>
          </a:p>
        </p:txBody>
      </p:sp>
      <p:pic>
        <p:nvPicPr>
          <p:cNvPr id="112" name="Shape 57" descr="Shape 57"/>
          <p:cNvPicPr>
            <a:picLocks noChangeAspect="1"/>
          </p:cNvPicPr>
          <p:nvPr/>
        </p:nvPicPr>
        <p:blipFill>
          <a:blip r:embed="rId2"/>
          <a:stretch>
            <a:fillRect/>
          </a:stretch>
        </p:blipFill>
        <p:spPr>
          <a:xfrm>
            <a:off x="614100" y="1275524"/>
            <a:ext cx="1982300" cy="238701"/>
          </a:xfrm>
          <a:prstGeom prst="rect">
            <a:avLst/>
          </a:prstGeom>
          <a:ln w="12700">
            <a:miter lim="400000"/>
          </a:ln>
        </p:spPr>
      </p:pic>
      <p:sp>
        <p:nvSpPr>
          <p:cNvPr id="113" name="Shape 58"/>
          <p:cNvSpPr/>
          <p:nvPr/>
        </p:nvSpPr>
        <p:spPr>
          <a:xfrm>
            <a:off x="537900" y="3666599"/>
            <a:ext cx="6249600" cy="3693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1200">
                <a:solidFill>
                  <a:srgbClr val="FFFFFF"/>
                </a:solidFill>
                <a:latin typeface="Open Sans Light"/>
                <a:ea typeface="Open Sans Light"/>
                <a:cs typeface="Open Sans Light"/>
                <a:sym typeface="Open Sans Light"/>
              </a:defRPr>
            </a:lvl1pPr>
          </a:lstStyle>
          <a:p>
            <a:r>
              <a:rPr lang="en-US" b="1" dirty="0"/>
              <a:t>Olusegun Oyedele</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6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17" name="Shape 64"/>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Agenda</a:t>
            </a:r>
          </a:p>
        </p:txBody>
      </p:sp>
      <p:sp>
        <p:nvSpPr>
          <p:cNvPr id="118" name="Shape 65"/>
          <p:cNvSpPr/>
          <p:nvPr/>
        </p:nvSpPr>
        <p:spPr>
          <a:xfrm>
            <a:off x="343874" y="1211200"/>
            <a:ext cx="5459402" cy="1708756"/>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p>
            <a:pPr marL="457200" indent="-355600">
              <a:lnSpc>
                <a:spcPct val="115000"/>
              </a:lnSpc>
              <a:buClr>
                <a:srgbClr val="000000"/>
              </a:buClr>
              <a:buSzPts val="2000"/>
              <a:buAutoNum type="arabicPeriod"/>
              <a:defRPr sz="2000">
                <a:latin typeface="Open Sans"/>
                <a:ea typeface="Open Sans"/>
                <a:cs typeface="Open Sans"/>
                <a:sym typeface="Open Sans"/>
              </a:defRPr>
            </a:pPr>
            <a:r>
              <a:t>Introduction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Data Exploration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Model Development</a:t>
            </a:r>
          </a:p>
          <a:p>
            <a:pPr marL="457200" indent="-355600">
              <a:lnSpc>
                <a:spcPct val="115000"/>
              </a:lnSpc>
              <a:buClr>
                <a:srgbClr val="000000"/>
              </a:buClr>
              <a:buSzPts val="2000"/>
              <a:buAutoNum type="arabicPeriod"/>
              <a:defRPr sz="2000">
                <a:latin typeface="Open Sans"/>
                <a:ea typeface="Open Sans"/>
                <a:cs typeface="Open Sans"/>
                <a:sym typeface="Open Sans"/>
              </a:defRPr>
            </a:pPr>
            <a:r>
              <a:t>Interpretation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Introduction</a:t>
            </a:r>
          </a:p>
        </p:txBody>
      </p:sp>
      <p:sp>
        <p:nvSpPr>
          <p:cNvPr id="123" name="Shape 72"/>
          <p:cNvSpPr/>
          <p:nvPr/>
        </p:nvSpPr>
        <p:spPr>
          <a:xfrm>
            <a:off x="205025" y="1083299"/>
            <a:ext cx="8565600" cy="1120274"/>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sz="1800" dirty="0"/>
              <a:t>The marketing team of Sprocket Central Pty Ltd is looking to boost business by analyzing their existing customer dataset to determine customer trends and behavior</a:t>
            </a:r>
          </a:p>
        </p:txBody>
      </p:sp>
      <p:sp>
        <p:nvSpPr>
          <p:cNvPr id="124" name="Shape 73"/>
          <p:cNvSpPr/>
          <p:nvPr/>
        </p:nvSpPr>
        <p:spPr>
          <a:xfrm>
            <a:off x="205025" y="2164724"/>
            <a:ext cx="4134600" cy="282247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1500">
                <a:latin typeface="Open Sans"/>
                <a:ea typeface="Open Sans"/>
                <a:cs typeface="Open Sans"/>
                <a:sym typeface="Open Sans"/>
              </a:defRPr>
            </a:lvl1pPr>
          </a:lstStyle>
          <a:p>
            <a:r>
              <a:rPr lang="en-US" dirty="0"/>
              <a:t>In addition to the existing 3 datasets (Customer demographic, customer address and transactions), Sprocket Central Pty Ltd has given us a new list of 1000 potential customers with their demographics and attributes.</a:t>
            </a:r>
          </a:p>
          <a:p>
            <a:endParaRPr lang="en-US" dirty="0"/>
          </a:p>
          <a:p>
            <a:r>
              <a:rPr lang="en-US" dirty="0"/>
              <a:t>The Goal is to recommend which of these 1000 new customers should be targeted to drive the most value for the organization</a:t>
            </a:r>
            <a:endParaRPr dirty="0"/>
          </a:p>
        </p:txBody>
      </p:sp>
      <p:grpSp>
        <p:nvGrpSpPr>
          <p:cNvPr id="127" name="Shape 74"/>
          <p:cNvGrpSpPr/>
          <p:nvPr/>
        </p:nvGrpSpPr>
        <p:grpSpPr>
          <a:xfrm>
            <a:off x="4969973" y="2164723"/>
            <a:ext cx="3800704" cy="2649304"/>
            <a:chOff x="-1" y="-1"/>
            <a:chExt cx="3800702" cy="2649302"/>
          </a:xfrm>
        </p:grpSpPr>
        <p:sp>
          <p:nvSpPr>
            <p:cNvPr id="125" name="Rectangle"/>
            <p:cNvSpPr/>
            <p:nvPr/>
          </p:nvSpPr>
          <p:spPr>
            <a:xfrm>
              <a:off x="-1" y="-1"/>
              <a:ext cx="3800702" cy="2649302"/>
            </a:xfrm>
            <a:prstGeom prst="rect">
              <a:avLst/>
            </a:prstGeom>
            <a:solidFill>
              <a:srgbClr val="EEEEEE"/>
            </a:solidFill>
            <a:ln w="12700" cap="flat">
              <a:noFill/>
              <a:miter lim="400000"/>
            </a:ln>
            <a:effectLst/>
          </p:spPr>
          <p:txBody>
            <a:bodyPr wrap="square" lIns="45719" tIns="45719" rIns="45719" bIns="45719" numCol="1" anchor="ctr">
              <a:noAutofit/>
            </a:bodyPr>
            <a:lstStyle/>
            <a:p>
              <a:pPr algn="ctr">
                <a:defRPr>
                  <a:solidFill>
                    <a:srgbClr val="666666"/>
                  </a:solidFill>
                </a:defRPr>
              </a:pPr>
              <a:endParaRPr dirty="0"/>
            </a:p>
          </p:txBody>
        </p:sp>
        <p:sp>
          <p:nvSpPr>
            <p:cNvPr id="126" name="Place any supporting images, graphs, data or extra text here."/>
            <p:cNvSpPr/>
            <p:nvPr/>
          </p:nvSpPr>
          <p:spPr>
            <a:xfrm>
              <a:off x="-1" y="370561"/>
              <a:ext cx="3800702" cy="190818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91424" tIns="91424" rIns="91424" bIns="91424" numCol="1" anchor="ctr">
              <a:spAutoFit/>
            </a:bodyPr>
            <a:lstStyle>
              <a:lvl1pPr algn="ctr">
                <a:defRPr>
                  <a:solidFill>
                    <a:srgbClr val="666666"/>
                  </a:solidFill>
                </a:defRPr>
              </a:lvl1pPr>
            </a:lstStyle>
            <a:p>
              <a:pPr algn="l"/>
              <a:r>
                <a:rPr lang="en-US" dirty="0"/>
                <a:t>In building this recommendation, the approach which we will be taking are in three phases:</a:t>
              </a:r>
            </a:p>
            <a:p>
              <a:pPr algn="l"/>
              <a:endParaRPr lang="en-US" dirty="0"/>
            </a:p>
            <a:p>
              <a:pPr marL="285750" indent="-285750" algn="l">
                <a:buFontTx/>
                <a:buChar char="-"/>
              </a:pPr>
              <a:r>
                <a:rPr lang="en-US" dirty="0"/>
                <a:t>Data Exploration </a:t>
              </a:r>
            </a:p>
            <a:p>
              <a:pPr marL="285750" indent="-285750" algn="l">
                <a:buFontTx/>
                <a:buChar char="-"/>
              </a:pPr>
              <a:r>
                <a:rPr lang="en-US" dirty="0"/>
                <a:t>Model Development</a:t>
              </a:r>
            </a:p>
            <a:p>
              <a:pPr marL="285750" indent="-285750" algn="l">
                <a:buFontTx/>
                <a:buChar char="-"/>
              </a:pPr>
              <a:r>
                <a:rPr lang="en-US" dirty="0"/>
                <a:t>Interpretation.</a:t>
              </a:r>
            </a:p>
            <a:p>
              <a:pPr algn="l"/>
              <a:endParaRPr dirty="0"/>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Data Exploration</a:t>
            </a:r>
          </a:p>
        </p:txBody>
      </p:sp>
      <p:sp>
        <p:nvSpPr>
          <p:cNvPr id="132" name="Shape 81"/>
          <p:cNvSpPr/>
          <p:nvPr/>
        </p:nvSpPr>
        <p:spPr>
          <a:xfrm>
            <a:off x="205025" y="951923"/>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dirty="0"/>
              <a:t>Data Cleaning</a:t>
            </a:r>
          </a:p>
        </p:txBody>
      </p:sp>
      <p:sp>
        <p:nvSpPr>
          <p:cNvPr id="133" name="Shape 82"/>
          <p:cNvSpPr/>
          <p:nvPr/>
        </p:nvSpPr>
        <p:spPr>
          <a:xfrm>
            <a:off x="59317" y="1310108"/>
            <a:ext cx="4609736" cy="4265559"/>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marL="285750" indent="-285750">
              <a:lnSpc>
                <a:spcPct val="150000"/>
              </a:lnSpc>
              <a:buFont typeface="Wingdings" panose="05000000000000000000" pitchFamily="2" charset="2"/>
              <a:buChar char="§"/>
            </a:pPr>
            <a:r>
              <a:rPr lang="en-US" sz="1300" dirty="0"/>
              <a:t>Notable data quality issues that were encountered will be addressed during the data cleaning process</a:t>
            </a:r>
          </a:p>
          <a:p>
            <a:pPr marL="285750" indent="-285750">
              <a:lnSpc>
                <a:spcPct val="150000"/>
              </a:lnSpc>
              <a:buFont typeface="Wingdings" panose="05000000000000000000" pitchFamily="2" charset="2"/>
              <a:buChar char="§"/>
            </a:pPr>
            <a:r>
              <a:rPr lang="en-US" sz="1300" dirty="0"/>
              <a:t>We will use only records of customer ID which are available on both sheets and filter out all other incomplete data or update spreadsheets with correct data</a:t>
            </a:r>
          </a:p>
          <a:p>
            <a:pPr marL="285750" indent="-285750">
              <a:lnSpc>
                <a:spcPct val="150000"/>
              </a:lnSpc>
              <a:buFont typeface="Wingdings" panose="05000000000000000000" pitchFamily="2" charset="2"/>
              <a:buChar char="§"/>
            </a:pPr>
            <a:r>
              <a:rPr lang="en-US" sz="1300" dirty="0"/>
              <a:t>If only a small number of rows are empty, we will filter the record from the training set.</a:t>
            </a:r>
          </a:p>
          <a:p>
            <a:pPr marL="285750" indent="-285750">
              <a:lnSpc>
                <a:spcPct val="150000"/>
              </a:lnSpc>
              <a:buFont typeface="Wingdings" panose="05000000000000000000" pitchFamily="2" charset="2"/>
              <a:buChar char="§"/>
            </a:pPr>
            <a:r>
              <a:rPr lang="en-US" sz="1300" dirty="0"/>
              <a:t> We will use regular expression to replace data to remove inconsistency</a:t>
            </a:r>
          </a:p>
          <a:p>
            <a:pPr marL="285750" indent="-285750">
              <a:lnSpc>
                <a:spcPct val="150000"/>
              </a:lnSpc>
              <a:buFont typeface="Wingdings" panose="05000000000000000000" pitchFamily="2" charset="2"/>
              <a:buChar char="§"/>
            </a:pPr>
            <a:r>
              <a:rPr lang="en-US" sz="1300" dirty="0"/>
              <a:t>Cancelled transactions in the Transaction data will be filtered out</a:t>
            </a:r>
          </a:p>
          <a:p>
            <a:endParaRPr lang="en-US" sz="1400" dirty="0"/>
          </a:p>
          <a:p>
            <a:endParaRPr sz="1400" dirty="0"/>
          </a:p>
        </p:txBody>
      </p:sp>
      <p:grpSp>
        <p:nvGrpSpPr>
          <p:cNvPr id="136" name="Shape 83"/>
          <p:cNvGrpSpPr/>
          <p:nvPr/>
        </p:nvGrpSpPr>
        <p:grpSpPr>
          <a:xfrm>
            <a:off x="4814761" y="1210086"/>
            <a:ext cx="3955864" cy="3575948"/>
            <a:chOff x="-155213" y="-20741"/>
            <a:chExt cx="3955862" cy="2649302"/>
          </a:xfrm>
        </p:grpSpPr>
        <p:sp>
          <p:nvSpPr>
            <p:cNvPr id="134" name="Rectangle"/>
            <p:cNvSpPr/>
            <p:nvPr/>
          </p:nvSpPr>
          <p:spPr>
            <a:xfrm>
              <a:off x="-155213" y="-20741"/>
              <a:ext cx="3800702" cy="2649302"/>
            </a:xfrm>
            <a:prstGeom prst="rect">
              <a:avLst/>
            </a:prstGeom>
            <a:solidFill>
              <a:srgbClr val="EEEEEE"/>
            </a:solidFill>
            <a:ln w="12700" cap="flat">
              <a:noFill/>
              <a:miter lim="400000"/>
            </a:ln>
            <a:effectLst/>
          </p:spPr>
          <p:txBody>
            <a:bodyPr wrap="square" lIns="45719" tIns="45719" rIns="45719" bIns="45719" numCol="1" anchor="ctr">
              <a:noAutofit/>
            </a:bodyPr>
            <a:lstStyle/>
            <a:p>
              <a:pPr algn="ctr">
                <a:defRPr>
                  <a:solidFill>
                    <a:srgbClr val="666666"/>
                  </a:solidFill>
                </a:defRPr>
              </a:pPr>
              <a:endParaRPr/>
            </a:p>
          </p:txBody>
        </p:sp>
        <p:sp>
          <p:nvSpPr>
            <p:cNvPr id="135" name="Place any supporting images, graphs, data or extra text here."/>
            <p:cNvSpPr/>
            <p:nvPr/>
          </p:nvSpPr>
          <p:spPr>
            <a:xfrm>
              <a:off x="-53" y="870754"/>
              <a:ext cx="3800702" cy="77524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91424" tIns="91424" rIns="91424" bIns="91424" numCol="1" anchor="ctr">
              <a:spAutoFit/>
            </a:bodyPr>
            <a:lstStyle>
              <a:lvl1pPr algn="ctr">
                <a:defRPr>
                  <a:solidFill>
                    <a:srgbClr val="666666"/>
                  </a:solidFill>
                </a:defRPr>
              </a:lvl1pPr>
            </a:lstStyle>
            <a:p>
              <a:pPr algn="l"/>
              <a:r>
                <a:rPr lang="en-US" dirty="0"/>
                <a:t>Dataset to be used for analysis:</a:t>
              </a:r>
            </a:p>
            <a:p>
              <a:pPr marL="285750" indent="-285750" algn="l">
                <a:buFontTx/>
                <a:buChar char="-"/>
              </a:pPr>
              <a:r>
                <a:rPr lang="en-US" dirty="0"/>
                <a:t>Customer Demographic</a:t>
              </a:r>
            </a:p>
            <a:p>
              <a:pPr marL="285750" indent="-285750" algn="l">
                <a:buFontTx/>
                <a:buChar char="-"/>
              </a:pPr>
              <a:r>
                <a:rPr lang="en-US" dirty="0"/>
                <a:t>Customer Address</a:t>
              </a:r>
            </a:p>
            <a:p>
              <a:pPr marL="285750" indent="-285750" algn="l">
                <a:buFontTx/>
                <a:buChar char="-"/>
              </a:pPr>
              <a:r>
                <a:rPr lang="en-US" dirty="0"/>
                <a:t>Transaction Data</a:t>
              </a: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79"/>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31" name="Shape 80"/>
          <p:cNvSpPr/>
          <p:nvPr/>
        </p:nvSpPr>
        <p:spPr>
          <a:xfrm>
            <a:off x="205025" y="263974"/>
            <a:ext cx="8565600" cy="466642"/>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t>Data Exploration</a:t>
            </a:r>
          </a:p>
        </p:txBody>
      </p:sp>
      <p:sp>
        <p:nvSpPr>
          <p:cNvPr id="132" name="Shape 81"/>
          <p:cNvSpPr/>
          <p:nvPr/>
        </p:nvSpPr>
        <p:spPr>
          <a:xfrm>
            <a:off x="205025" y="951923"/>
            <a:ext cx="8565600" cy="516327"/>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dirty="0"/>
              <a:t>Feature Engineering</a:t>
            </a:r>
          </a:p>
        </p:txBody>
      </p:sp>
      <p:sp>
        <p:nvSpPr>
          <p:cNvPr id="133" name="Shape 82"/>
          <p:cNvSpPr/>
          <p:nvPr/>
        </p:nvSpPr>
        <p:spPr>
          <a:xfrm>
            <a:off x="127444" y="1393847"/>
            <a:ext cx="5650609" cy="4617963"/>
          </a:xfrm>
          <a:prstGeom prst="rect">
            <a:avLst/>
          </a:prstGeom>
          <a:ln w="12700">
            <a:miter lim="400000"/>
          </a:ln>
          <a:extLst>
            <a:ext uri="{C572A759-6A51-4108-AA02-DFA0A04FC94B}">
              <ma14:wrappingTextBoxFlag xmlns:ma14="http://schemas.microsoft.com/office/mac/drawingml/2011/main" xmlns=""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nSpc>
                <a:spcPct val="150000"/>
              </a:lnSpc>
            </a:pPr>
            <a:r>
              <a:rPr lang="en-US" sz="1400" dirty="0"/>
              <a:t>We will have to feature engineer a little to get the data into a format that we need it in for our Analysis. In the following, we will do the following steps:</a:t>
            </a:r>
          </a:p>
          <a:p>
            <a:pPr marL="285750" indent="-285750">
              <a:lnSpc>
                <a:spcPct val="150000"/>
              </a:lnSpc>
              <a:buFont typeface="Wingdings" panose="05000000000000000000" pitchFamily="2" charset="2"/>
              <a:buChar char="§"/>
            </a:pPr>
            <a:r>
              <a:rPr lang="en-US" sz="1400" dirty="0"/>
              <a:t>We will merge the dataset using the primary key (Customer ID)</a:t>
            </a:r>
          </a:p>
          <a:p>
            <a:pPr marL="285750" indent="-285750">
              <a:lnSpc>
                <a:spcPct val="150000"/>
              </a:lnSpc>
              <a:buFont typeface="Wingdings" panose="05000000000000000000" pitchFamily="2" charset="2"/>
              <a:buChar char="§"/>
            </a:pPr>
            <a:r>
              <a:rPr lang="en-US" sz="1400" dirty="0"/>
              <a:t>Remove unnecessary columns</a:t>
            </a:r>
          </a:p>
          <a:p>
            <a:pPr marL="285750" indent="-285750">
              <a:lnSpc>
                <a:spcPct val="150000"/>
              </a:lnSpc>
              <a:buFont typeface="Wingdings" panose="05000000000000000000" pitchFamily="2" charset="2"/>
              <a:buChar char="§"/>
            </a:pPr>
            <a:r>
              <a:rPr lang="en-US" sz="1400" dirty="0"/>
              <a:t>DOB will be converted to age and put into age groups</a:t>
            </a:r>
          </a:p>
          <a:p>
            <a:pPr marL="285750" indent="-285750">
              <a:lnSpc>
                <a:spcPct val="150000"/>
              </a:lnSpc>
              <a:buFont typeface="Wingdings" panose="05000000000000000000" pitchFamily="2" charset="2"/>
              <a:buChar char="§"/>
            </a:pPr>
            <a:r>
              <a:rPr lang="en-US" sz="1400" dirty="0"/>
              <a:t>Reformat Transaction Date</a:t>
            </a:r>
          </a:p>
          <a:p>
            <a:pPr marL="285750" indent="-285750">
              <a:lnSpc>
                <a:spcPct val="150000"/>
              </a:lnSpc>
              <a:buFont typeface="Wingdings" panose="05000000000000000000" pitchFamily="2" charset="2"/>
              <a:buChar char="§"/>
            </a:pPr>
            <a:endParaRPr lang="en-US" sz="1400" dirty="0"/>
          </a:p>
          <a:p>
            <a:pPr marL="285750" indent="-285750">
              <a:lnSpc>
                <a:spcPct val="150000"/>
              </a:lnSpc>
              <a:buFont typeface="Wingdings" panose="05000000000000000000" pitchFamily="2" charset="2"/>
              <a:buChar char="§"/>
            </a:pPr>
            <a:endParaRPr lang="en-US" sz="1400" dirty="0"/>
          </a:p>
          <a:p>
            <a:pPr marL="285750" indent="-285750">
              <a:lnSpc>
                <a:spcPct val="150000"/>
              </a:lnSpc>
              <a:buFont typeface="Wingdings" panose="05000000000000000000" pitchFamily="2" charset="2"/>
              <a:buChar char="§"/>
            </a:pPr>
            <a:endParaRPr lang="en-US" sz="1400" dirty="0"/>
          </a:p>
          <a:p>
            <a:pPr marL="285750" indent="-285750">
              <a:lnSpc>
                <a:spcPct val="150000"/>
              </a:lnSpc>
              <a:buFont typeface="Wingdings" panose="05000000000000000000" pitchFamily="2" charset="2"/>
              <a:buChar char="§"/>
            </a:pPr>
            <a:endParaRPr lang="en-US" sz="1400" dirty="0"/>
          </a:p>
          <a:p>
            <a:pPr marL="285750" indent="-285750">
              <a:lnSpc>
                <a:spcPct val="150000"/>
              </a:lnSpc>
              <a:buFont typeface="Wingdings" panose="05000000000000000000" pitchFamily="2" charset="2"/>
              <a:buChar char="§"/>
            </a:pPr>
            <a:endParaRPr lang="en-US" sz="1400" dirty="0"/>
          </a:p>
          <a:p>
            <a:pPr marL="285750" indent="-285750">
              <a:lnSpc>
                <a:spcPct val="150000"/>
              </a:lnSpc>
              <a:buFont typeface="Wingdings" panose="05000000000000000000" pitchFamily="2" charset="2"/>
              <a:buChar char="§"/>
            </a:pPr>
            <a:endParaRPr lang="en-US" sz="1400" dirty="0"/>
          </a:p>
          <a:p>
            <a:endParaRPr sz="1400" dirty="0"/>
          </a:p>
        </p:txBody>
      </p:sp>
      <p:grpSp>
        <p:nvGrpSpPr>
          <p:cNvPr id="136" name="Shape 83"/>
          <p:cNvGrpSpPr/>
          <p:nvPr/>
        </p:nvGrpSpPr>
        <p:grpSpPr>
          <a:xfrm>
            <a:off x="5891001" y="743711"/>
            <a:ext cx="2879623" cy="4385785"/>
            <a:chOff x="-155213" y="-366263"/>
            <a:chExt cx="3955862" cy="3249284"/>
          </a:xfrm>
        </p:grpSpPr>
        <p:sp>
          <p:nvSpPr>
            <p:cNvPr id="134" name="Rectangle"/>
            <p:cNvSpPr/>
            <p:nvPr/>
          </p:nvSpPr>
          <p:spPr>
            <a:xfrm>
              <a:off x="-155213" y="-20741"/>
              <a:ext cx="3800702" cy="2649302"/>
            </a:xfrm>
            <a:prstGeom prst="rect">
              <a:avLst/>
            </a:prstGeom>
            <a:solidFill>
              <a:srgbClr val="EEEEEE"/>
            </a:solidFill>
            <a:ln w="12700" cap="flat">
              <a:noFill/>
              <a:miter lim="400000"/>
            </a:ln>
            <a:effectLst/>
          </p:spPr>
          <p:txBody>
            <a:bodyPr wrap="square" lIns="45719" tIns="45719" rIns="45719" bIns="45719" numCol="1" anchor="ctr">
              <a:noAutofit/>
            </a:bodyPr>
            <a:lstStyle/>
            <a:p>
              <a:pPr algn="ctr">
                <a:defRPr>
                  <a:solidFill>
                    <a:srgbClr val="666666"/>
                  </a:solidFill>
                </a:defRPr>
              </a:pPr>
              <a:endParaRPr/>
            </a:p>
          </p:txBody>
        </p:sp>
        <p:sp>
          <p:nvSpPr>
            <p:cNvPr id="135" name="Place any supporting images, graphs, data or extra text here."/>
            <p:cNvSpPr/>
            <p:nvPr/>
          </p:nvSpPr>
          <p:spPr>
            <a:xfrm>
              <a:off x="-53" y="-366263"/>
              <a:ext cx="3800702" cy="324928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91424" tIns="91424" rIns="91424" bIns="91424" numCol="1" anchor="ctr">
              <a:spAutoFit/>
            </a:bodyPr>
            <a:lstStyle>
              <a:lvl1pPr algn="ctr">
                <a:defRPr>
                  <a:solidFill>
                    <a:srgbClr val="666666"/>
                  </a:solidFill>
                </a:defRPr>
              </a:lvl1pPr>
            </a:lstStyle>
            <a:p>
              <a:pPr algn="l"/>
              <a:endParaRPr lang="en-US" sz="1200" dirty="0"/>
            </a:p>
            <a:p>
              <a:pPr algn="l"/>
              <a:endParaRPr lang="en-US" sz="1200" dirty="0"/>
            </a:p>
            <a:p>
              <a:pPr algn="l"/>
              <a:endParaRPr lang="en-US" sz="1200" dirty="0"/>
            </a:p>
            <a:p>
              <a:pPr algn="l"/>
              <a:r>
                <a:rPr lang="en-US" sz="1200" dirty="0"/>
                <a:t>List of column in the merged dataset to be used for model development:</a:t>
              </a:r>
            </a:p>
            <a:p>
              <a:pPr marL="285750" indent="-285750" algn="l">
                <a:buFontTx/>
                <a:buChar char="-"/>
              </a:pPr>
              <a:r>
                <a:rPr lang="en-US" sz="1200" dirty="0"/>
                <a:t>Customer ID</a:t>
              </a:r>
            </a:p>
            <a:p>
              <a:pPr marL="285750" indent="-285750" algn="l">
                <a:buFontTx/>
                <a:buChar char="-"/>
              </a:pPr>
              <a:r>
                <a:rPr lang="en-US" sz="1200" dirty="0"/>
                <a:t>Transaction Date</a:t>
              </a:r>
            </a:p>
            <a:p>
              <a:pPr marL="285750" indent="-285750" algn="l">
                <a:buFontTx/>
                <a:buChar char="-"/>
              </a:pPr>
              <a:r>
                <a:rPr lang="en-US" sz="1200" dirty="0"/>
                <a:t>Transaction ID</a:t>
              </a:r>
            </a:p>
            <a:p>
              <a:pPr marL="285750" indent="-285750" algn="l">
                <a:buFontTx/>
                <a:buChar char="-"/>
              </a:pPr>
              <a:r>
                <a:rPr lang="en-US" sz="1200" dirty="0"/>
                <a:t>List Price</a:t>
              </a:r>
            </a:p>
            <a:p>
              <a:pPr marL="285750" indent="-285750" algn="l">
                <a:buFontTx/>
                <a:buChar char="-"/>
              </a:pPr>
              <a:r>
                <a:rPr lang="en-US" sz="1200" dirty="0"/>
                <a:t>Gender</a:t>
              </a:r>
            </a:p>
            <a:p>
              <a:pPr marL="285750" indent="-285750" algn="l">
                <a:buFontTx/>
                <a:buChar char="-"/>
              </a:pPr>
              <a:r>
                <a:rPr lang="en-US" sz="1200" dirty="0"/>
                <a:t>past_3_years_bike_related_purchases</a:t>
              </a:r>
            </a:p>
            <a:p>
              <a:pPr marL="285750" indent="-285750" algn="l">
                <a:buFontTx/>
                <a:buChar char="-"/>
              </a:pPr>
              <a:r>
                <a:rPr lang="en-US" sz="1200" dirty="0"/>
                <a:t>Age</a:t>
              </a:r>
            </a:p>
            <a:p>
              <a:pPr marL="285750" indent="-285750" algn="l">
                <a:buFontTx/>
                <a:buChar char="-"/>
              </a:pPr>
              <a:r>
                <a:rPr lang="en-US" sz="1200" dirty="0" err="1"/>
                <a:t>job_title</a:t>
              </a:r>
              <a:endParaRPr lang="en-US" sz="1200" dirty="0"/>
            </a:p>
            <a:p>
              <a:pPr marL="285750" indent="-285750" algn="l">
                <a:buFontTx/>
                <a:buChar char="-"/>
              </a:pPr>
              <a:r>
                <a:rPr lang="en-US" sz="1200" dirty="0" err="1"/>
                <a:t>job_industry_category</a:t>
              </a:r>
              <a:endParaRPr lang="en-US" sz="1200" dirty="0"/>
            </a:p>
            <a:p>
              <a:pPr marL="285750" indent="-285750" algn="l">
                <a:buFontTx/>
                <a:buChar char="-"/>
              </a:pPr>
              <a:r>
                <a:rPr lang="en-US" sz="1200" dirty="0" err="1"/>
                <a:t>wealth_segment</a:t>
              </a:r>
              <a:endParaRPr lang="en-US" sz="1200" dirty="0"/>
            </a:p>
            <a:p>
              <a:pPr marL="285750" indent="-285750" algn="l">
                <a:buFontTx/>
                <a:buChar char="-"/>
              </a:pPr>
              <a:r>
                <a:rPr lang="en-US" sz="1200" dirty="0" err="1"/>
                <a:t>owns_car</a:t>
              </a:r>
              <a:endParaRPr lang="en-US" sz="1200" dirty="0"/>
            </a:p>
            <a:p>
              <a:pPr marL="285750" indent="-285750" algn="l">
                <a:buFontTx/>
                <a:buChar char="-"/>
              </a:pPr>
              <a:r>
                <a:rPr lang="en-US" sz="1200" dirty="0"/>
                <a:t>Postcode</a:t>
              </a:r>
            </a:p>
            <a:p>
              <a:pPr marL="285750" indent="-285750" algn="l">
                <a:buFontTx/>
                <a:buChar char="-"/>
              </a:pPr>
              <a:r>
                <a:rPr lang="en-US" sz="1200" dirty="0"/>
                <a:t>State</a:t>
              </a:r>
            </a:p>
            <a:p>
              <a:pPr marL="285750" indent="-285750" algn="l">
                <a:buFontTx/>
                <a:buChar char="-"/>
              </a:pPr>
              <a:r>
                <a:rPr lang="en-US" sz="1200" dirty="0" err="1"/>
                <a:t>property_valuation</a:t>
              </a:r>
              <a:endParaRPr lang="en-US" sz="1200" dirty="0"/>
            </a:p>
            <a:p>
              <a:pPr marL="285750" indent="-285750" algn="l">
                <a:buFontTx/>
                <a:buChar char="-"/>
              </a:pPr>
              <a:endParaRPr lang="en-US" sz="1200" dirty="0"/>
            </a:p>
            <a:p>
              <a:pPr algn="l"/>
              <a:endParaRPr lang="en-US" sz="1200" dirty="0"/>
            </a:p>
          </p:txBody>
        </p:sp>
      </p:grpSp>
    </p:spTree>
    <p:extLst>
      <p:ext uri="{BB962C8B-B14F-4D97-AF65-F5344CB8AC3E}">
        <p14:creationId xmlns:p14="http://schemas.microsoft.com/office/powerpoint/2010/main" val="286369438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Model Development</a:t>
            </a:r>
          </a:p>
        </p:txBody>
      </p:sp>
      <p:sp>
        <p:nvSpPr>
          <p:cNvPr id="141" name="Shape 90"/>
          <p:cNvSpPr/>
          <p:nvPr/>
        </p:nvSpPr>
        <p:spPr>
          <a:xfrm>
            <a:off x="205025" y="108329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dirty="0"/>
              <a:t>Recency, Frequency, Monetary (RFM) Analysis</a:t>
            </a:r>
            <a:endParaRPr dirty="0"/>
          </a:p>
        </p:txBody>
      </p:sp>
      <p:sp>
        <p:nvSpPr>
          <p:cNvPr id="142" name="Shape 91"/>
          <p:cNvSpPr/>
          <p:nvPr/>
        </p:nvSpPr>
        <p:spPr>
          <a:xfrm>
            <a:off x="205025" y="2164724"/>
            <a:ext cx="8793318" cy="2026100"/>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r>
              <a:rPr lang="en-US" dirty="0"/>
              <a:t>RFM Analysis is a powerful tool used to target groups of customers with relevant communication based on their purchase behavior. RFM stands for Recency, Frequency, and Monetary and is used to categorize customers based on these three quantitative factors:</a:t>
            </a:r>
          </a:p>
          <a:p>
            <a:endParaRPr lang="en-US" dirty="0"/>
          </a:p>
          <a:p>
            <a:r>
              <a:rPr lang="en-US" dirty="0"/>
              <a:t>Recency: How recently a customer made a purchase</a:t>
            </a:r>
          </a:p>
          <a:p>
            <a:r>
              <a:rPr lang="en-US" dirty="0"/>
              <a:t>Frequency: How often a customer makes a purchase</a:t>
            </a:r>
          </a:p>
          <a:p>
            <a:r>
              <a:rPr lang="en-US" dirty="0"/>
              <a:t>Monetary Value: How much money a customer has spent on purchases.</a:t>
            </a:r>
            <a:endParaRPr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t>Model Development</a:t>
            </a:r>
          </a:p>
        </p:txBody>
      </p:sp>
      <p:sp>
        <p:nvSpPr>
          <p:cNvPr id="142" name="Shape 91"/>
          <p:cNvSpPr/>
          <p:nvPr/>
        </p:nvSpPr>
        <p:spPr>
          <a:xfrm>
            <a:off x="205025" y="1076565"/>
            <a:ext cx="4134600" cy="2822472"/>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1500">
                <a:latin typeface="Open Sans"/>
                <a:ea typeface="Open Sans"/>
                <a:cs typeface="Open Sans"/>
                <a:sym typeface="Open Sans"/>
              </a:defRPr>
            </a:lvl1pPr>
          </a:lstStyle>
          <a:p>
            <a:r>
              <a:rPr lang="en-US" dirty="0"/>
              <a:t>RFM Analysis assigns a rank to every customer in each of these categories. Usually the higher the ranking, the better the customer. The best customer would have a top ranking in each category</a:t>
            </a:r>
          </a:p>
          <a:p>
            <a:endParaRPr lang="en-US" dirty="0"/>
          </a:p>
          <a:p>
            <a:r>
              <a:rPr lang="en-US" dirty="0"/>
              <a:t>In this analysis, we will be working with the Transaction dataset that contains over 19,000 transactions for Sprocket Central Pty Ltd . </a:t>
            </a:r>
            <a:endParaRPr dirty="0"/>
          </a:p>
        </p:txBody>
      </p:sp>
      <p:grpSp>
        <p:nvGrpSpPr>
          <p:cNvPr id="145" name="Shape 92"/>
          <p:cNvGrpSpPr/>
          <p:nvPr/>
        </p:nvGrpSpPr>
        <p:grpSpPr>
          <a:xfrm>
            <a:off x="4969973" y="1076565"/>
            <a:ext cx="3800704" cy="3737462"/>
            <a:chOff x="-1" y="-1"/>
            <a:chExt cx="3800702" cy="2649302"/>
          </a:xfrm>
        </p:grpSpPr>
        <p:sp>
          <p:nvSpPr>
            <p:cNvPr id="143" name="Rectangle"/>
            <p:cNvSpPr/>
            <p:nvPr/>
          </p:nvSpPr>
          <p:spPr>
            <a:xfrm>
              <a:off x="-1" y="-1"/>
              <a:ext cx="3800702" cy="2649302"/>
            </a:xfrm>
            <a:prstGeom prst="rect">
              <a:avLst/>
            </a:prstGeom>
            <a:solidFill>
              <a:srgbClr val="EEEEEE"/>
            </a:solidFill>
            <a:ln w="12700" cap="flat">
              <a:noFill/>
              <a:miter lim="400000"/>
            </a:ln>
            <a:effectLst/>
          </p:spPr>
          <p:txBody>
            <a:bodyPr wrap="square" lIns="45719" tIns="45719" rIns="45719" bIns="45719" numCol="1" anchor="ctr">
              <a:noAutofit/>
            </a:bodyPr>
            <a:lstStyle/>
            <a:p>
              <a:pPr>
                <a:defRPr>
                  <a:solidFill>
                    <a:srgbClr val="666666"/>
                  </a:solidFill>
                </a:defRPr>
              </a:pPr>
              <a:endParaRPr dirty="0"/>
            </a:p>
          </p:txBody>
        </p:sp>
        <p:sp>
          <p:nvSpPr>
            <p:cNvPr id="144" name="Place any supporting images, graphs, data or extra text here."/>
            <p:cNvSpPr/>
            <p:nvPr/>
          </p:nvSpPr>
          <p:spPr>
            <a:xfrm>
              <a:off x="-1" y="586004"/>
              <a:ext cx="3800702" cy="14772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91424" tIns="91424" rIns="91424" bIns="91424" numCol="1" anchor="ctr">
              <a:spAutoFit/>
            </a:bodyPr>
            <a:lstStyle>
              <a:lvl1pPr algn="ctr">
                <a:defRPr>
                  <a:solidFill>
                    <a:srgbClr val="666666"/>
                  </a:solidFill>
                </a:defRPr>
              </a:lvl1pPr>
            </a:lstStyle>
            <a:p>
              <a:pPr algn="l"/>
              <a:r>
                <a:rPr lang="en-US" dirty="0"/>
                <a:t>Fields Required for RFM Analysis:</a:t>
              </a:r>
            </a:p>
            <a:p>
              <a:pPr algn="l"/>
              <a:endParaRPr lang="en-US" dirty="0"/>
            </a:p>
            <a:p>
              <a:pPr marL="285750" indent="-285750" algn="l">
                <a:buFont typeface="Arial" panose="020B0604020202020204" pitchFamily="34" charset="0"/>
                <a:buChar char="•"/>
              </a:pPr>
              <a:r>
                <a:rPr lang="en-US" dirty="0"/>
                <a:t>Customer ID</a:t>
              </a:r>
            </a:p>
            <a:p>
              <a:pPr marL="285750" indent="-285750" algn="l">
                <a:buFont typeface="Arial" panose="020B0604020202020204" pitchFamily="34" charset="0"/>
                <a:buChar char="•"/>
              </a:pPr>
              <a:r>
                <a:rPr lang="en-US" dirty="0"/>
                <a:t>Transaction Date</a:t>
              </a:r>
            </a:p>
            <a:p>
              <a:pPr marL="285750" indent="-285750" algn="l">
                <a:buFont typeface="Arial" panose="020B0604020202020204" pitchFamily="34" charset="0"/>
                <a:buChar char="•"/>
              </a:pPr>
              <a:r>
                <a:rPr lang="en-US" dirty="0"/>
                <a:t>Transaction ID</a:t>
              </a:r>
            </a:p>
            <a:p>
              <a:pPr marL="285750" indent="-285750" algn="l">
                <a:buFont typeface="Arial" panose="020B0604020202020204" pitchFamily="34" charset="0"/>
                <a:buChar char="•"/>
              </a:pPr>
              <a:r>
                <a:rPr lang="en-US" dirty="0"/>
                <a:t>List Price</a:t>
              </a:r>
            </a:p>
          </p:txBody>
        </p:sp>
      </p:grpSp>
    </p:spTree>
    <p:extLst>
      <p:ext uri="{BB962C8B-B14F-4D97-AF65-F5344CB8AC3E}">
        <p14:creationId xmlns:p14="http://schemas.microsoft.com/office/powerpoint/2010/main" val="210321739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dirty="0"/>
              <a:t>Interpretation</a:t>
            </a:r>
          </a:p>
        </p:txBody>
      </p:sp>
      <p:sp>
        <p:nvSpPr>
          <p:cNvPr id="150" name="Shape 99"/>
          <p:cNvSpPr/>
          <p:nvPr/>
        </p:nvSpPr>
        <p:spPr>
          <a:xfrm>
            <a:off x="205025" y="952491"/>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US" dirty="0"/>
              <a:t>RFM Visualizations</a:t>
            </a:r>
          </a:p>
        </p:txBody>
      </p:sp>
      <p:sp>
        <p:nvSpPr>
          <p:cNvPr id="151" name="Shape 100"/>
          <p:cNvSpPr/>
          <p:nvPr/>
        </p:nvSpPr>
        <p:spPr>
          <a:xfrm>
            <a:off x="205025" y="1468818"/>
            <a:ext cx="5564596" cy="3618843"/>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r>
              <a:rPr lang="en-US" dirty="0"/>
              <a:t>We will know the customers that bought more recently and spent the most money </a:t>
            </a:r>
          </a:p>
          <a:p>
            <a:endParaRPr lang="en-US" dirty="0"/>
          </a:p>
          <a:p>
            <a:r>
              <a:rPr lang="en-US" dirty="0"/>
              <a:t>We will know the customers that bought more recently and frequently</a:t>
            </a:r>
          </a:p>
          <a:p>
            <a:endParaRPr lang="en-US" dirty="0"/>
          </a:p>
          <a:p>
            <a:r>
              <a:rPr lang="en-US" dirty="0"/>
              <a:t>We will know the customers that bought more Frequently and spent the most money</a:t>
            </a:r>
          </a:p>
          <a:p>
            <a:endParaRPr lang="en-US" dirty="0"/>
          </a:p>
          <a:p>
            <a:r>
              <a:rPr lang="en-US" dirty="0"/>
              <a:t>Then we will use the information above to find out customer trends and behavior based on Gender, Age, Wealth segment, Job industry category, and postal code.</a:t>
            </a:r>
          </a:p>
          <a:p>
            <a:endParaRPr lang="en-US" dirty="0"/>
          </a:p>
        </p:txBody>
      </p:sp>
      <p:grpSp>
        <p:nvGrpSpPr>
          <p:cNvPr id="154" name="Shape 101"/>
          <p:cNvGrpSpPr/>
          <p:nvPr/>
        </p:nvGrpSpPr>
        <p:grpSpPr>
          <a:xfrm>
            <a:off x="5769621" y="1567920"/>
            <a:ext cx="2912044" cy="2649304"/>
            <a:chOff x="-1" y="-1"/>
            <a:chExt cx="3800702" cy="2649302"/>
          </a:xfrm>
        </p:grpSpPr>
        <p:sp>
          <p:nvSpPr>
            <p:cNvPr id="152" name="Rectangle"/>
            <p:cNvSpPr/>
            <p:nvPr/>
          </p:nvSpPr>
          <p:spPr>
            <a:xfrm>
              <a:off x="-1" y="-1"/>
              <a:ext cx="3800702" cy="2649302"/>
            </a:xfrm>
            <a:prstGeom prst="rect">
              <a:avLst/>
            </a:prstGeom>
            <a:solidFill>
              <a:srgbClr val="EEEEEE"/>
            </a:solidFill>
            <a:ln w="12700" cap="flat">
              <a:noFill/>
              <a:miter lim="400000"/>
            </a:ln>
            <a:effectLst/>
          </p:spPr>
          <p:txBody>
            <a:bodyPr wrap="square" lIns="45719" tIns="45719" rIns="45719" bIns="45719" numCol="1" anchor="ctr">
              <a:noAutofit/>
            </a:bodyPr>
            <a:lstStyle/>
            <a:p>
              <a:pPr algn="ctr">
                <a:defRPr>
                  <a:solidFill>
                    <a:srgbClr val="666666"/>
                  </a:solidFill>
                </a:defRPr>
              </a:pPr>
              <a:endParaRPr/>
            </a:p>
          </p:txBody>
        </p:sp>
        <p:sp>
          <p:nvSpPr>
            <p:cNvPr id="153" name="Place any supporting images, graphs, data or extra text here."/>
            <p:cNvSpPr/>
            <p:nvPr/>
          </p:nvSpPr>
          <p:spPr>
            <a:xfrm>
              <a:off x="-1" y="693724"/>
              <a:ext cx="3800702" cy="126185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91424" tIns="91424" rIns="91424" bIns="91424" numCol="1" anchor="ctr">
              <a:spAutoFit/>
            </a:bodyPr>
            <a:lstStyle>
              <a:lvl1pPr algn="ctr">
                <a:defRPr>
                  <a:solidFill>
                    <a:srgbClr val="666666"/>
                  </a:solidFill>
                </a:defRPr>
              </a:lvl1pPr>
            </a:lstStyle>
            <a:p>
              <a:r>
                <a:rPr lang="en-US" dirty="0"/>
                <a:t>Interpretation Categories:</a:t>
              </a:r>
            </a:p>
            <a:p>
              <a:endParaRPr lang="en-US" dirty="0"/>
            </a:p>
            <a:p>
              <a:r>
                <a:rPr lang="en-US" dirty="0"/>
                <a:t>Recency vs Monetary</a:t>
              </a:r>
            </a:p>
            <a:p>
              <a:r>
                <a:rPr lang="en-US" dirty="0"/>
                <a:t>Recency vs Frequency</a:t>
              </a:r>
            </a:p>
            <a:p>
              <a:r>
                <a:rPr lang="en-US" dirty="0"/>
                <a:t>Frequency vs Monetary</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06"/>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a:p>
        </p:txBody>
      </p:sp>
      <p:sp>
        <p:nvSpPr>
          <p:cNvPr id="158" name="Shape 107"/>
          <p:cNvSpPr/>
          <p:nvPr/>
        </p:nvSpPr>
        <p:spPr>
          <a:xfrm>
            <a:off x="537899" y="1895175"/>
            <a:ext cx="3953102" cy="723243"/>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lang="en-US" dirty="0"/>
              <a:t>Thank you</a:t>
            </a:r>
            <a:endParaRPr dirty="0"/>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448</TotalTime>
  <Words>594</Words>
  <Application>Microsoft Office PowerPoint</Application>
  <PresentationFormat>On-screen Show (16:9)</PresentationFormat>
  <Paragraphs>91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Open Sans</vt:lpstr>
      <vt:lpstr>Open Sans Extrabold</vt:lpstr>
      <vt:lpstr>Open Sans Light</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Olusegun OYEDELE-ADEYI</cp:lastModifiedBy>
  <cp:revision>4</cp:revision>
  <dcterms:modified xsi:type="dcterms:W3CDTF">2022-01-21T09:38:48Z</dcterms:modified>
</cp:coreProperties>
</file>